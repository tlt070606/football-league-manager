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《面向对象程序设计》课程设计报告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47695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5F0"/>
                </a:solidFill>
                <a:latin typeface="Microsoft YaHei"/>
              </a:defRPr>
            </a:pPr>
            <a:r>
              <a:t>世界杯小组赛积分管理系统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AB4E0"/>
                </a:solidFill>
                <a:latin typeface="Microsoft YaHei"/>
              </a:defRPr>
            </a:pPr>
            <a:r>
              <a:t>佛山大学 · 计算机与人工智能学院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E8"/>
                </a:solidFill>
                <a:latin typeface="Microsoft YaHei"/>
              </a:defRPr>
            </a:pPr>
            <a:r>
              <a:t>专 业：智能科学与技术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E8"/>
                </a:solidFill>
                <a:latin typeface="Microsoft YaHei"/>
              </a:defRPr>
            </a:pPr>
            <a:r>
              <a:t>学 号：20251030137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E8"/>
                </a:solidFill>
                <a:latin typeface="Microsoft YaHei"/>
              </a:defRPr>
            </a:pPr>
            <a:r>
              <a:t>姓 名：谭理天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E8"/>
                </a:solidFill>
                <a:latin typeface="Microsoft YaHei"/>
              </a:defRPr>
            </a:pPr>
            <a:r>
              <a:t>班 级：2025级智能科学与技术1班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4E8"/>
                </a:solidFill>
                <a:latin typeface="Microsoft YaHei"/>
              </a:defRPr>
            </a:pPr>
            <a:r>
              <a:t>日 期：2026.7.15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B4E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目的与要求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课程设计内容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系统功能结构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详细设计—类设计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核心算法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总结与体会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669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世界杯小组赛积分管理系统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基于 Java + Swing 的足球赛事管理应用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291840"/>
            <a:ext cx="1463040" cy="3657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Java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291840"/>
            <a:ext cx="1463040" cy="3657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Swing GUI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291840"/>
            <a:ext cx="1463040" cy="3657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291840"/>
            <a:ext cx="1463040" cy="3657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Graphics2D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794760"/>
            <a:ext cx="1463040" cy="36576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三层架构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3794760"/>
            <a:ext cx="1463040" cy="36576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单例模式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794760"/>
            <a:ext cx="1463040" cy="36576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圆桌旋转算法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一、目的与要求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通过开发完整的“世界杯小组赛积分管理系统”，巩固面向对象程序设计（Java）核心知识，培养运用面向对象思想解决实际问题的能力。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EA7"/>
                </a:solidFill>
                <a:latin typeface="Microsoft YaHei"/>
              </a:defRPr>
            </a:pPr>
            <a:r>
              <a:t>球队管理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增删改查，包含名称、小组、教练、球员、主场、队徽，支持搜索和分组查看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EA7"/>
                </a:solidFill>
                <a:latin typeface="Microsoft YaHei"/>
              </a:defRPr>
            </a:pPr>
            <a:r>
              <a:t>比赛管理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圆桌旋转算法自动生成主客场双循环赛程，支持手动录入/一键随机模拟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EA7"/>
                </a:solidFill>
                <a:latin typeface="Microsoft YaHei"/>
              </a:defRPr>
            </a:pPr>
            <a:r>
              <a:t>积分榜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17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自动计算积分（胜3/平1/负0），多级排序，柱状图可视化，小组筛选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064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74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EA7"/>
                </a:solidFill>
                <a:latin typeface="Microsoft YaHei"/>
              </a:defRPr>
            </a:pPr>
            <a:r>
              <a:t>数据持久化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406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JSON文件存储球队和比赛数据，程序重启不丢失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94360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5EA7"/>
                </a:solidFill>
                <a:latin typeface="Microsoft YaHei"/>
              </a:defRPr>
            </a:pPr>
            <a:r>
              <a:t>代码规范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Javadoc注释，编译零错误零警告，Google Java 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二、课程设计内容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572000" cy="54864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项目名称：世界杯小组赛积分管理系统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以2026年世界杯为背景，设计开发具备完整功能的足球赛事积分管理系统。</a:t>
            </a:r>
            <a:br/>
            <a:r>
              <a:t>预置32支世界杯参赛国家队（A-H共8个小组，每组4队），提供球队管理、赛程自动生成、</a:t>
            </a:r>
            <a:br/>
            <a:r>
              <a:t>比分模拟、积分计算、可视化展示和数据持久化等核心功能。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EA7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编程语言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Java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GUI框架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Swing (JFrame/JTable/JTabbedPane)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JSON序列化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Gson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图表绘制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Graphics2D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架构设计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三层架构（UI层/业务层/数据持久层）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89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EA7"/>
                </a:solidFill>
                <a:latin typeface="Microsoft YaHei"/>
              </a:defRPr>
            </a:pPr>
            <a:r>
              <a:t>▸ 设计模式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单例模式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EA7"/>
                </a:solidFill>
                <a:latin typeface="Microsoft YaHei"/>
              </a:defRPr>
            </a:pPr>
            <a:r>
              <a:t>32支预设球队（8组×4队）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A组：美国、英格兰、伊朗、威尔士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B组：阿根廷、墨西哥、波兰、中国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C组：法国、丹麦、突尼斯、秘鲁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D组：西班牙、德国、日本、哥斯达黎加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E组：巴西、瑞士、塞尔维亚、喀麦隆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F组：比利时、克罗地亚、摩洛哥、加拿大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G组：葡萄牙、乌拉圭、韩国、加纳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H组：荷兰、塞内加尔、厄瓜多尔、澳大利亚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三、系统功能结构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10972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UI层（Swing）</a:t>
            </a:r>
          </a:p>
          <a:p>
            <a:pPr algn="ctr">
              <a:defRPr sz="1400">
                <a:solidFill>
                  <a:srgbClr val="D0E0F0"/>
                </a:solidFill>
              </a:defRPr>
            </a:pPr>
            <a:r>
              <a:t>图形界面展示 · 用户交互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26080"/>
            <a:ext cx="9418320" cy="109728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业务逻辑层（LeagueManager）</a:t>
            </a:r>
          </a:p>
          <a:p>
            <a:pPr algn="ctr">
              <a:defRPr sz="1400">
                <a:solidFill>
                  <a:srgbClr val="D0E0F0"/>
                </a:solidFill>
              </a:defRPr>
            </a:pPr>
            <a:r>
              <a:t>赛程生成 · 积分计算 · 随机模拟 · 数据校验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数据持久层（FileManager + Model）</a:t>
            </a:r>
          </a:p>
          <a:p>
            <a:pPr algn="ctr">
              <a:defRPr sz="1400">
                <a:solidFill>
                  <a:srgbClr val="D0E0F0"/>
                </a:solidFill>
              </a:defRPr>
            </a:pPr>
            <a:r>
              <a:t>JSON文件读写 · Gson序列化 · 数据封装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60720" y="2377440"/>
            <a:ext cx="640080" cy="457200"/>
          </a:xfrm>
          <a:prstGeom prst="down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5760720" y="3931920"/>
            <a:ext cx="640080" cy="457200"/>
          </a:xfrm>
          <a:prstGeom prst="down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5760720"/>
            <a:ext cx="219456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球队管理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5760720"/>
            <a:ext cx="2194560" cy="64008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比赛管理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760720"/>
            <a:ext cx="219456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积分榜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5760720"/>
            <a:ext cx="219456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四、详细设计 — 类设计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36363"/>
                </a:solidFill>
                <a:latin typeface="Microsoft YaHei"/>
              </a:defRPr>
            </a:pPr>
            <a:r>
              <a:t>系统包含19个Java源文件，分为Model（3个）、Service（2个）、UI（7个）、Util（2个）四个包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97480" cy="45720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7315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0D9"/>
                </a:solidFill>
                <a:latin typeface="Microsoft YaHei"/>
              </a:defRPr>
            </a:pPr>
            <a:r>
              <a:t>球队模型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属性：</a:t>
            </a:r>
            <a:br/>
            <a:r>
              <a:t>id(UUID), name, group, coach,</a:t>
            </a:r>
            <a:br/>
            <a:r>
              <a:t>players(List), homeStadium, 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363"/>
                </a:solidFill>
                <a:latin typeface="Microsoft YaHei"/>
              </a:defRPr>
            </a:pPr>
            <a:r>
              <a:t>说明：</a:t>
            </a:r>
            <a:br/>
            <a:r>
              <a:t>封装球队完整信息，重写</a:t>
            </a:r>
            <a:br/>
            <a:r>
              <a:t>equals/hashCode基于id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97480" cy="45720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E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1828800"/>
            <a:ext cx="2697480" cy="73152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5EA7"/>
                </a:solidFill>
                <a:latin typeface="Microsoft YaHei"/>
              </a:defRPr>
            </a:pPr>
            <a:r>
              <a:t>比赛模型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属性：</a:t>
            </a:r>
            <a:br/>
            <a:r>
              <a:t>id, round, homeTeamId, awayTeamId,</a:t>
            </a:r>
            <a:br/>
            <a:r>
              <a:t>homeScore, awayScore(-1), date,</a:t>
            </a:r>
            <a:br/>
            <a:r>
              <a:t>stadium, played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5029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363"/>
                </a:solidFill>
                <a:latin typeface="Microsoft YaHei"/>
              </a:defRPr>
            </a:pPr>
            <a:r>
              <a:t>说明：</a:t>
            </a:r>
            <a:br/>
            <a:r>
              <a:t>ID引用关联球队，避免Gson</a:t>
            </a:r>
            <a:br/>
            <a:r>
              <a:t>循环引用，比分展示字符串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97480" cy="45720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59" y="1828800"/>
            <a:ext cx="269748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积分记录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属性：</a:t>
            </a:r>
            <a:br/>
            <a:r>
              <a:t>played, won, drawn, lost,</a:t>
            </a:r>
            <a:br/>
            <a:r>
              <a:t>goalsFor, goalsAgainst, goalDiff,</a:t>
            </a:r>
            <a:br/>
            <a:r>
              <a:t>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029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363"/>
                </a:solidFill>
                <a:latin typeface="Microsoft YaHei"/>
              </a:defRPr>
            </a:pPr>
            <a:r>
              <a:t>说明：</a:t>
            </a:r>
            <a:br/>
            <a:r>
              <a:t>recordMatch()自动更新统计</a:t>
            </a:r>
            <a:br/>
            <a:r>
              <a:t>胜3/平1/负0积分规则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1828800"/>
            <a:ext cx="2697480" cy="4572000"/>
          </a:xfrm>
          <a:prstGeom prst="roundRect">
            <a:avLst/>
          </a:prstGeom>
          <a:solidFill>
            <a:srgbClr val="F0F2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1828800"/>
            <a:ext cx="269748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LeagueManager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Microsoft YaHei"/>
              </a:defRPr>
            </a:pPr>
            <a:r>
              <a:t>控制器单例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1752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属性：</a:t>
            </a:r>
            <a:br/>
            <a:r>
              <a:t>teams(Map), matches(List),</a:t>
            </a:r>
            <a:br/>
            <a:r>
              <a:t>standings(List)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029200"/>
            <a:ext cx="2423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36363"/>
                </a:solidFill>
                <a:latin typeface="Microsoft YaHei"/>
              </a:defRPr>
            </a:pPr>
            <a:r>
              <a:t>说明：</a:t>
            </a:r>
            <a:br/>
            <a:r>
              <a:t>业务逻辑中心，提供CRUD/</a:t>
            </a:r>
            <a:br/>
            <a:r>
              <a:t>赛程生成/积分计算完整API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五、核心算法 — 圆桌旋转赛程生成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5EA7"/>
                </a:solidFill>
                <a:latin typeface="Microsoft YaHei"/>
              </a:defRPr>
            </a:pPr>
            <a:r>
              <a:t>Circle Method（圆桌旋转算法）— 体育赛程生成的经典方法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0584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将N支球队编号放入环形队列，固定首位球队作为锚点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0058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60604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78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其余球队每轮顺时针旋转一位，相邻配对生成对阵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00584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272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上半区 vs 下半区：circle[i] vs circle[size-1-i]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100584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70332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7588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主场交替规则：每支球队在主客场间循环交替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10058400" cy="4572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251959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245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小组内6场比赛（双循环），8个小组入16轮256场比赛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时间复杂度 O(N²)，实现N队双循环赛程的公平生成，配合加权概率池模拟真实世界杯比分分布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60720"/>
            <a:ext cx="10058400" cy="64008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856E04"/>
                </a:solidFill>
                <a:latin typeface="Microsoft YaHei"/>
              </a:defRPr>
            </a:pPr>
            <a:r>
              <a:t>随机模拟算法：使用加权概率池模拟真实世界杯比分分布（1-0、2-1等比分出现概率最高），体现“用简单方法逼近复杂现实”的工程思维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六、总结与体会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深入理解面向对象设计思想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363"/>
                </a:solidFill>
                <a:latin typeface="Microsoft YaHei"/>
              </a:defRPr>
            </a:pPr>
            <a:r>
              <a:t>高聚合低耦合——Team/Match/Standing独立数据类，LeagueManager单例控制，各层通过接口调用互不干扰。需求变更（8队→32队）只需修改初始化方法，核心业务逻辑无需改动。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1554480"/>
            <a:ext cx="365760" cy="365760"/>
          </a:xfrm>
          <a:prstGeom prst="ellipse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掌握Java集合与Swing编程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363"/>
                </a:solidFill>
                <a:latin typeface="Microsoft YaHei"/>
              </a:defRPr>
            </a:pPr>
            <a:r>
              <a:t>HashMap(O1查找)、ArrayList有序存储、Comparator多关键字排序。JTable自定义TableModel+CellRenderer实现队徽图标和金银铜高亮，模态对话框保证数据录入原子性。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155448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算法在真实项目中的应用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363"/>
                </a:solidFill>
                <a:latin typeface="Microsoft YaHei"/>
              </a:defRPr>
            </a:pPr>
            <a:r>
              <a:t>圆桌旋转算法O(N²)公平生成赛程，加权概率池模拟真实比分分布。从课堂理论到工程实践的完整转化。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5661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提升代码工程化能力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363"/>
                </a:solidFill>
                <a:latin typeface="Microsoft YaHei"/>
              </a:defRPr>
            </a:pPr>
            <a:r>
              <a:t>公有方法Javadoc注释（@param/@return/@throws），Google Java Style规范，Git版本管理（feat/fix/docs约定式提交），项目托管于GitHub。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31920"/>
            <a:ext cx="356616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931920"/>
            <a:ext cx="35661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4114800"/>
            <a:ext cx="365760" cy="3657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6E"/>
                </a:solidFill>
                <a:latin typeface="Microsoft YaHei"/>
              </a:defRPr>
            </a:pPr>
            <a:r>
              <a:t>认识测试与异常处理的重要性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6363"/>
                </a:solidFill>
                <a:latin typeface="Microsoft YaHei"/>
              </a:defRPr>
            </a:pPr>
            <a:r>
              <a:t>15项功能用例逐一测试，覆盖正常流程与边界条件。try-catch+JOptionPane弹窗确保程序不因非预期输入崩溃。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七、改进方向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5176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920240"/>
            <a:ext cx="1188720" cy="11887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数据库替换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引入SQLite等嵌入式数据库替代JSON文件，提升大数据量下的存取性能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45920"/>
            <a:ext cx="265176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920240"/>
            <a:ext cx="1188720" cy="118872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淘汰赛阶段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74903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扩展完整世界杯赛制：小组赛 → 16强 → 8强 → 半决赛 → 决赛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265176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59" y="1920240"/>
            <a:ext cx="118872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个人数据统计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4903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增加球员个人数据统计功能：进球榜、助攻榜、黄牌/红牌记录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645920"/>
            <a:ext cx="265176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04120" y="1920240"/>
            <a:ext cx="1188720" cy="11887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/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专业图表库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749039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363"/>
                </a:solidFill>
                <a:latin typeface="Microsoft YaHei"/>
              </a:defRPr>
            </a:pPr>
            <a:r>
              <a:t>使用JFreeChart等专业图表库增强可视化效果和数据展示能力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感谢聊听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5F0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389120"/>
            <a:ext cx="5790895" cy="640080"/>
          </a:xfrm>
          <a:prstGeom prst="roundRect">
            <a:avLst/>
          </a:prstGeom>
          <a:solidFill>
            <a:srgbClr val="2E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🔗 github.com/tlt070606/football-league-manager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B4E0"/>
                </a:solidFill>
                <a:latin typeface="Microsoft YaHei"/>
              </a:defRPr>
            </a:pPr>
            <a:r>
              <a:t>谭理天 · 2025级智能科学与技术1班 · 2026.7.15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